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DFA"/>
                </a:solidFill>
                <a:latin typeface="Montserrat"/>
              </a:defRPr>
            </a:pPr>
            <a:r>
              <a:t>RV Market Intelligence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9184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C8A7E"/>
                </a:solidFill>
                <a:latin typeface="Open Sans"/>
              </a:defRPr>
            </a:pPr>
            <a:r>
              <a:t>Technical Architecture &amp; Implementation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46807"/>
                </a:solidFill>
                <a:latin typeface="Open Sans"/>
              </a:defRPr>
            </a:pPr>
            <a:r>
              <a:t>For Infrastructure, Data Engineering &amp; BI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669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95755"/>
                </a:solidFill>
                <a:latin typeface="Open Sans"/>
              </a:defRPr>
            </a:pPr>
            <a:r>
              <a:t>January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DFA"/>
                </a:solidFill>
                <a:latin typeface="Open Sans"/>
              </a:defRPr>
            </a:pPr>
            <a:r>
              <a:t>Understanding the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8229600" cy="91440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Open Sans"/>
              </a:defRPr>
            </a:pPr>
            <a:r>
              <a:t>A real-time inventory intelligence platform that transforms 187K+ RV inventory records from Microsoft Fabric into actionable insights for sales teams, with sub-second query response times.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Microsoft Fabric Lakehouse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Delta Lake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562K+ Sales History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Real-time Inventory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Azure AD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46888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FastAPI (Python)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50-second Cold Start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In-memory Caching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Pre-computed Aggregations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RESTful API Design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2468880"/>
            <a:ext cx="2651760" cy="2011680"/>
          </a:xfrm>
          <a:prstGeom prst="roundRect">
            <a:avLst>
              <a:gd name="adj" fmla="val 5000"/>
            </a:avLst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560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React 19 +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Vite Build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ECharts Visualizations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6941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Thor Industries Branding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• Mobile-responsive Design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75488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95737"/>
                </a:solidFill>
                <a:latin typeface="Montserrat"/>
              </a:defRPr>
            </a:pPr>
            <a:r>
              <a:t>187,600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257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95755"/>
                </a:solidFill>
                <a:latin typeface="Open Sans"/>
              </a:defRPr>
            </a:pPr>
            <a:r>
              <a:t>Inventory Units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75488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846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95737"/>
                </a:solidFill>
                <a:latin typeface="Montserrat"/>
              </a:defRPr>
            </a:pPr>
            <a:r>
              <a:t>562,754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257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95755"/>
                </a:solidFill>
                <a:latin typeface="Open Sans"/>
              </a:defRPr>
            </a:pPr>
            <a:r>
              <a:t>Sales Records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475488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846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95737"/>
                </a:solidFill>
                <a:latin typeface="Montserrat"/>
              </a:defRPr>
            </a:pPr>
            <a:r>
              <a:t>&lt; 400ms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257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95755"/>
                </a:solidFill>
                <a:latin typeface="Open Sans"/>
              </a:defRPr>
            </a:pPr>
            <a:r>
              <a:t>Response 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6560" y="475488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84632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95737"/>
                </a:solidFill>
                <a:latin typeface="Montserrat"/>
              </a:defRPr>
            </a:pPr>
            <a:r>
              <a:t>~50 sec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525780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95755"/>
                </a:solidFill>
                <a:latin typeface="Open Sans"/>
              </a:defRPr>
            </a:pPr>
            <a:r>
              <a:t>Cold Start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Solution 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011680" cy="256032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MICROSOFT FABRIC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06040"/>
            <a:ext cx="1737360" cy="36576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791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Open Sans"/>
              </a:defRPr>
            </a:pPr>
            <a:r>
              <a:t>OneLake Storage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063240"/>
            <a:ext cx="1737360" cy="36576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363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Open Sans"/>
              </a:defRPr>
            </a:pPr>
            <a:r>
              <a:t>Delta Tables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520440"/>
            <a:ext cx="1737360" cy="36576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5935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Open Sans"/>
              </a:defRPr>
            </a:pPr>
            <a:r>
              <a:t>Lakehouse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40"/>
            <a:ext cx="1737360" cy="36576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0507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Open Sans"/>
              </a:defRPr>
            </a:pPr>
            <a:r>
              <a:t>GraphQL API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77440" y="3108960"/>
            <a:ext cx="640080" cy="365760"/>
          </a:xfrm>
          <a:prstGeom prst="rightArrow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08960" y="1645920"/>
            <a:ext cx="2926080" cy="329184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7830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FASTAPI 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286000"/>
            <a:ext cx="26517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3317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1817"/>
                </a:solidFill>
                <a:latin typeface="Montserrat"/>
              </a:defRPr>
            </a:pPr>
            <a:r>
              <a:t>Delta Lake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786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Direct table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971800"/>
            <a:ext cx="26517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0175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1817"/>
                </a:solidFill>
                <a:latin typeface="Montserrat"/>
              </a:defRPr>
            </a:pPr>
            <a:r>
              <a:t>In-Memory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644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~1.1 GB cached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657600"/>
            <a:ext cx="26517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7033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1817"/>
                </a:solidFill>
                <a:latin typeface="Montserrat"/>
              </a:defRPr>
            </a:pPr>
            <a: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9502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8 endpoints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4343400"/>
            <a:ext cx="265176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438912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81817"/>
                </a:solidFill>
                <a:latin typeface="Montserrat"/>
              </a:defRPr>
            </a:pPr>
            <a:r>
              <a:t>Auth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636008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Azure AD / DefaultCredential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26480" y="3108960"/>
            <a:ext cx="640080" cy="365760"/>
          </a:xfrm>
          <a:prstGeom prst="rightArrow">
            <a:avLst/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0" y="2011680"/>
            <a:ext cx="2011680" cy="2560320"/>
          </a:xfrm>
          <a:prstGeom prst="roundRect">
            <a:avLst/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21488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REACT FRONTEND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2606040"/>
            <a:ext cx="17373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26791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81817"/>
                </a:solidFill>
                <a:latin typeface="Open Sans"/>
              </a:defRPr>
            </a:pPr>
            <a:r>
              <a:t>Sales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5160" y="3063240"/>
            <a:ext cx="17373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31363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81817"/>
                </a:solidFill>
                <a:latin typeface="Open Sans"/>
              </a:defRPr>
            </a:pPr>
            <a:r>
              <a:t>Analytics Dashboard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95160" y="3520440"/>
            <a:ext cx="17373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35935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81817"/>
                </a:solidFill>
                <a:latin typeface="Open Sans"/>
              </a:defRPr>
            </a:pPr>
            <a:r>
              <a:t>ECharts Viz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95160" y="3977640"/>
            <a:ext cx="173736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050792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181817"/>
                </a:solidFill>
                <a:latin typeface="Open Sans"/>
              </a:defRPr>
            </a:pPr>
            <a:r>
              <a:t>Filter Panel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595755"/>
                </a:solidFill>
                <a:latin typeface="Open Sans"/>
              </a:defRPr>
            </a:pPr>
            <a:r>
              <a:t>Data flows from Microsoft Fabric → FastAPI (with caching) → React UI  |  All queries resolved in-memory for sub-second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DFA"/>
                </a:solidFill>
                <a:latin typeface="Open Sans"/>
              </a:defRPr>
            </a:pPr>
            <a:r>
              <a:t>Microsoft Fabric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Data Layer: Microsoft Fabric Lakehouse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1148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1817"/>
                </a:solidFill>
                <a:latin typeface="Montserrat"/>
              </a:defRPr>
            </a:pPr>
            <a:r>
              <a:t>GOLD LAYER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95737"/>
                </a:solidFill>
                <a:latin typeface="Montserrat"/>
              </a:defRPr>
            </a:pPr>
            <a:r>
              <a:t>Fact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749039" cy="5029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4028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1817"/>
                </a:solidFill>
                <a:latin typeface="Consolas"/>
              </a:defRPr>
            </a:pPr>
            <a:r>
              <a:t>fact_inventory_current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737"/>
                </a:solidFill>
                <a:latin typeface="Open Sans"/>
              </a:defRPr>
            </a:pPr>
            <a:r>
              <a:t>187,600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Current inventory snapshot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61488"/>
            <a:ext cx="3749039" cy="5029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81817"/>
                </a:solidFill>
                <a:latin typeface="Consolas"/>
              </a:defRPr>
            </a:pPr>
            <a:r>
              <a:t>fact_inventory_sales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807208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95737"/>
                </a:solidFill>
                <a:latin typeface="Open Sans"/>
              </a:defRPr>
            </a:pPr>
            <a:r>
              <a:t>562,754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95755"/>
                </a:solidFill>
                <a:latin typeface="Open Sans"/>
              </a:defRPr>
            </a:pPr>
            <a:r>
              <a:t>Historical sales with days_to_sell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Dimension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749039" cy="4114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30752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81817"/>
                </a:solidFill>
                <a:latin typeface="Consolas"/>
              </a:defRPr>
            </a:pPr>
            <a:r>
              <a:t>dim_product_model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730752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77D91"/>
                </a:solidFill>
                <a:latin typeface="Open Sans"/>
              </a:defRPr>
            </a:pPr>
            <a:r>
              <a:t>29,437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0448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rv_type, manufacturer,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42232"/>
            <a:ext cx="3749039" cy="4114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169664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81817"/>
                </a:solidFill>
                <a:latin typeface="Consolas"/>
              </a:defRPr>
            </a:pPr>
            <a:r>
              <a:t>dim_product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4169664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77D91"/>
                </a:solidFill>
                <a:latin typeface="Open Sans"/>
              </a:defRPr>
            </a:pPr>
            <a:r>
              <a:t>153,913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floorplan details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81144"/>
            <a:ext cx="3749039" cy="4114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608576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81817"/>
                </a:solidFill>
                <a:latin typeface="Consolas"/>
              </a:defRPr>
            </a:pPr>
            <a:r>
              <a:t>dim_dealership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608576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77D91"/>
                </a:solidFill>
                <a:latin typeface="Open Sans"/>
              </a:defRPr>
            </a:pPr>
            <a:r>
              <a:t>12,368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8231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dealer_group, state, region, 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020056"/>
            <a:ext cx="3749039" cy="4114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47488"/>
            <a:ext cx="2011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81817"/>
                </a:solidFill>
                <a:latin typeface="Consolas"/>
              </a:defRPr>
            </a:pPr>
            <a:r>
              <a:t>dim_date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04748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77D91"/>
                </a:solidFill>
                <a:latin typeface="Open Sans"/>
              </a:defRPr>
            </a:pPr>
            <a:r>
              <a:t>8,766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22122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Calendar with fiscal periods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1371600"/>
            <a:ext cx="4114800" cy="192024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46304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DATA ACCESS METHODS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00600" y="1920240"/>
            <a:ext cx="3749039" cy="50292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92040" y="196596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Delta Lake (Recommended)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2176272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DFA"/>
                </a:solidFill>
                <a:latin typeface="Open Sans"/>
              </a:defRPr>
            </a:pPr>
            <a:r>
              <a:t>~50 sec startup, full 187K records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0600" y="2514600"/>
            <a:ext cx="3749039" cy="502920"/>
          </a:xfrm>
          <a:prstGeom prst="roundRect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25603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GraphQL API (Legacy)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92040" y="2770632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DFA"/>
                </a:solidFill>
                <a:latin typeface="Open Sans"/>
              </a:defRPr>
            </a:pPr>
            <a:r>
              <a:t>~25 min startup, 100K limit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347472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356616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81817"/>
                </a:solidFill>
                <a:latin typeface="Montserrat"/>
              </a:defRPr>
            </a:pPr>
            <a:r>
              <a:t>CONNECTION DETAILS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8862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• Workspace: 9c727ce4-5f7e-4008-b31e-f3e3bd8e0adc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20624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• Auth: Azure DefaultCredential (az login)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52628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• Protocol: abfss:// (ADLS Gen2)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84632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• Format: Delta Lake (Parquet + transaction log)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Caching Strategy: In-Memory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920240" cy="164592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325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3898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81817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Table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148840"/>
            <a:ext cx="914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1671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81817"/>
                </a:solidFill>
                <a:latin typeface="Montserrat"/>
              </a:defRPr>
            </a:pPr>
            <a:r>
              <a:t>~45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DFA"/>
                </a:solidFill>
                <a:latin typeface="Open Sans"/>
              </a:defRPr>
            </a:pPr>
            <a:r>
              <a:t>Read Delta tables</a:t>
            </a:r>
            <a:br/>
            <a:r>
              <a:t>into DataFrames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331720" y="2148840"/>
            <a:ext cx="228600" cy="22860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1463040"/>
            <a:ext cx="1920240" cy="164592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91840" y="1325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3898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77D91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Pandas JOINs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148840"/>
            <a:ext cx="914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1671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77D91"/>
                </a:solidFill>
                <a:latin typeface="Montserrat"/>
              </a:defRPr>
            </a:pPr>
            <a:r>
              <a:t>~3 sec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DFA"/>
                </a:solidFill>
                <a:latin typeface="Open Sans"/>
              </a:defRPr>
            </a:pPr>
            <a:r>
              <a:t>Denormalize fact +</a:t>
            </a:r>
            <a:br/>
            <a:r>
              <a:t>dimension tables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526280" y="2148840"/>
            <a:ext cx="228600" cy="22860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1463040"/>
            <a:ext cx="1920240" cy="164592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86400" y="1325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3898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95737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Pre-Compute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48840"/>
            <a:ext cx="914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1671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495737"/>
                </a:solidFill>
                <a:latin typeface="Montserrat"/>
              </a:defRPr>
            </a:pPr>
            <a:r>
              <a:t>~2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DFA"/>
                </a:solidFill>
                <a:latin typeface="Open Sans"/>
              </a:defRPr>
            </a:pPr>
            <a:r>
              <a:t>Build aggregation</a:t>
            </a:r>
            <a:br/>
            <a:r>
              <a:t>caches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720840" y="2148840"/>
            <a:ext cx="228600" cy="22860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0" y="1463040"/>
            <a:ext cx="1920240" cy="1645920"/>
          </a:xfrm>
          <a:prstGeom prst="roundRect">
            <a:avLst/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0" y="13258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3898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46807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182880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Ready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2360" y="2148840"/>
            <a:ext cx="91440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216712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A46807"/>
                </a:solidFill>
                <a:latin typeface="Montserrat"/>
              </a:defRPr>
            </a:pPr>
            <a:r>
              <a:t>Instant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5146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FFFDFA"/>
                </a:solidFill>
                <a:latin typeface="Open Sans"/>
              </a:defRPr>
            </a:pPr>
            <a:r>
              <a:t>All queries served</a:t>
            </a:r>
            <a:br/>
            <a:r>
              <a:t>from memory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3383280"/>
            <a:ext cx="42976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1817"/>
                </a:solidFill>
                <a:latin typeface="Montserrat"/>
              </a:defRPr>
            </a:pPr>
            <a:r>
              <a:t>MEMORY FOOTPRINT (~1.1 GB Total)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84048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Open Sans"/>
              </a:defRPr>
            </a:pPr>
            <a:r>
              <a:t>Inventory DataFrame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3858768"/>
            <a:ext cx="1645920" cy="1828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286000" y="3858768"/>
            <a:ext cx="576072" cy="1828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77639" y="38404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Open Sans"/>
              </a:defRPr>
            </a:pPr>
            <a:r>
              <a:t>263 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18795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Open Sans"/>
              </a:defRPr>
            </a:pPr>
            <a:r>
              <a:t>Sales History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86000" y="4206240"/>
            <a:ext cx="1645920" cy="1828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286000" y="4206240"/>
            <a:ext cx="1530705" cy="1828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7639" y="4187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Open Sans"/>
              </a:defRPr>
            </a:pPr>
            <a:r>
              <a:t>695 MB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53542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Open Sans"/>
              </a:defRPr>
            </a:pPr>
            <a:r>
              <a:t>Products Cache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286000" y="4553712"/>
            <a:ext cx="1645920" cy="1828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86000" y="4553712"/>
            <a:ext cx="131673" cy="1828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39" y="4535424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Open Sans"/>
              </a:defRPr>
            </a:pPr>
            <a:r>
              <a:t>63 MB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488289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Open Sans"/>
              </a:defRPr>
            </a:pPr>
            <a:r>
              <a:t>Floorplans Cache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286000" y="4901184"/>
            <a:ext cx="1645920" cy="1828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286000" y="4901184"/>
            <a:ext cx="131673" cy="1828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77639" y="488289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Open Sans"/>
              </a:defRPr>
            </a:pPr>
            <a:r>
              <a:t>63 MB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23036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Open Sans"/>
              </a:defRPr>
            </a:pPr>
            <a:r>
              <a:t>Dealers Cache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86000" y="5248656"/>
            <a:ext cx="1645920" cy="18288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286000" y="5248656"/>
            <a:ext cx="82296" cy="1828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77639" y="5230368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Open Sans"/>
              </a:defRPr>
            </a:pPr>
            <a:r>
              <a:t>38 MB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846320" y="3383280"/>
            <a:ext cx="3931920" cy="228600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937760" y="347472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RESPONSE TIME BENCHMARKS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3840480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DFA"/>
                </a:solidFill>
                <a:latin typeface="Consolas"/>
              </a:defRPr>
            </a:pPr>
            <a:r>
              <a:t>/inventory/aggregated (unfiltered)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43800" y="384048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6807"/>
                </a:solidFill>
                <a:latin typeface="Open Sans"/>
              </a:defRPr>
            </a:pPr>
            <a:r>
              <a:t>~380 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418795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DFA"/>
                </a:solidFill>
                <a:latin typeface="Consolas"/>
              </a:defRPr>
            </a:pPr>
            <a:r>
              <a:t>/inventory/aggregated (filtered)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43800" y="4187952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6807"/>
                </a:solidFill>
                <a:latin typeface="Open Sans"/>
              </a:defRPr>
            </a:pPr>
            <a:r>
              <a:t>~3.3 sec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83480" y="4535424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DFA"/>
                </a:solidFill>
                <a:latin typeface="Consolas"/>
              </a:defRPr>
            </a:pPr>
            <a:r>
              <a:t>/inventory/sales-velocity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43800" y="453542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6807"/>
                </a:solidFill>
                <a:latin typeface="Open Sans"/>
              </a:defRPr>
            </a:pPr>
            <a:r>
              <a:t>~2.6 sec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83480" y="4882896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DFA"/>
                </a:solidFill>
                <a:latin typeface="Consolas"/>
              </a:defRPr>
            </a:pPr>
            <a:r>
              <a:t>/filters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43800" y="4882896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6807"/>
                </a:solidFill>
                <a:latin typeface="Open Sans"/>
              </a:defRPr>
            </a:pPr>
            <a:r>
              <a:t>&lt; 50 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83480" y="523036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DFA"/>
                </a:solidFill>
                <a:latin typeface="Consolas"/>
              </a:defRPr>
            </a:pPr>
            <a:r>
              <a:t>/dealers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543800" y="5230368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46807"/>
                </a:solidFill>
                <a:latin typeface="Open Sans"/>
              </a:defRPr>
            </a:pPr>
            <a:r>
              <a:t>&lt; 50 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Application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DFA"/>
                </a:solidFill>
                <a:latin typeface="Open Sans"/>
              </a:defRPr>
            </a:pPr>
            <a:r>
              <a:t>Backend &amp; Frontend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API Design: RESTful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8412480" cy="36576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17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Endpoint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Parameters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8412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184708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8562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8562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Health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8562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8412480" cy="36576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21284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4028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2219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219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Filter options (rv_types, states, manufacturers...)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2219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8412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200" y="257860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060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25877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/dealers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25877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List of dealership names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5877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880360"/>
            <a:ext cx="8412480" cy="36576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294436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7180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295351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/inventory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95351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Inventory items with filters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295351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limit, filters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331012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33756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331927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/inventory/aggregated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31927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KPIs, charts, breakdowns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1927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filters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611880"/>
            <a:ext cx="8412480" cy="36576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367588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7033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36850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/inventory/sales-velocity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68503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Days to sell, sale prices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368503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date range, filters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977640"/>
            <a:ext cx="84124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404164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06908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4050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/inventory/top-floorplans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405079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Top selling floorplans by RV type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7960" y="4050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limit, date range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7200" y="4407408"/>
            <a:ext cx="502920" cy="237744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43484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44165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81817"/>
                </a:solidFill>
                <a:latin typeface="Consolas"/>
              </a:defRPr>
            </a:pPr>
            <a:r>
              <a:t>/inventory/sales-date-range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441655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Available date range for sales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41655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" y="4800600"/>
            <a:ext cx="8412480" cy="91440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COMMON FILTER PARAMETERS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166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DFA"/>
                </a:solidFill>
                <a:latin typeface="Consolas"/>
              </a:defRPr>
            </a:pPr>
            <a:r>
              <a:t>rv_class  |  dealer_group  |  manufacturer  |  model  |  floorplan  |  condition  |  state  |  min_price  |  max_price  |  limit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4406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FFFDFA"/>
                </a:solidFill>
                <a:latin typeface="Open Sans"/>
              </a:defRPr>
            </a:pPr>
            <a:r>
              <a:t>Multi-select supported: dealer_group=CAMPING WORLD,CAMPERS INN (comma-separated values)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Frontend Architecture: React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4114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1817"/>
                </a:solidFill>
                <a:latin typeface="Montserrat"/>
              </a:defRPr>
            </a:pPr>
            <a:r>
              <a:t>APPLICATION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3840480" cy="36576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7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Consolas"/>
              </a:defRPr>
            </a:pPr>
            <a:r>
              <a:t>App.tsx  (React Router)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3840480" cy="164592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/ Sales Platform (Main)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SalesDashboard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81528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DealerDirectory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65576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1129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DealerDetail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2697480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743200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TerritoryMap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3081528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3127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CompetitiveIntel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465576"/>
            <a:ext cx="155448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511296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95737"/>
                </a:solidFill>
                <a:latin typeface="Consolas"/>
              </a:defRPr>
            </a:pPr>
            <a:r>
              <a:t>ProductCatalog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114800"/>
            <a:ext cx="3840480" cy="141732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ontserrat"/>
              </a:defRPr>
            </a:pPr>
            <a:r>
              <a:t>/analytics  Analytics Dashboard (Legacy)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Ver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95755"/>
                </a:solidFill>
                <a:latin typeface="Open Sans"/>
              </a:defRPr>
            </a:pPr>
            <a:r>
              <a:t>Recharts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452628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00200" y="457200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Ver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892040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95755"/>
                </a:solidFill>
                <a:latin typeface="Open Sans"/>
              </a:defRPr>
            </a:pPr>
            <a:r>
              <a:t>Tremor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452628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457200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Ver 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4892040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95755"/>
                </a:solidFill>
                <a:latin typeface="Open Sans"/>
              </a:defRPr>
            </a:pPr>
            <a:r>
              <a:t>ECharts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20440" y="4526280"/>
            <a:ext cx="868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4572000"/>
            <a:ext cx="868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Ver 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4892040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95755"/>
                </a:solidFill>
                <a:latin typeface="Open Sans"/>
              </a:defRPr>
            </a:pPr>
            <a:r>
              <a:t>Mobile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1371600"/>
            <a:ext cx="4114800" cy="210312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146304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ontserrat"/>
              </a:defRPr>
            </a:pPr>
            <a:r>
              <a:t>TECHNOLOGY 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React 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201168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UI Framework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21284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TypeScript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0" y="23957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Type Safety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259689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Vite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0" y="2779776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Build Tool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1828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ECharts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201168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Data Visualization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212848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Tailwind CSS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2395728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Styling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259689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46807"/>
                </a:solidFill>
                <a:latin typeface="Open Sans"/>
              </a:defRPr>
            </a:pPr>
            <a:r>
              <a:t>• React Router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2779776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C8A7E"/>
                </a:solidFill>
                <a:latin typeface="Open Sans"/>
              </a:defRPr>
            </a:pPr>
            <a:r>
              <a:t>Navigation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663440" y="3657600"/>
            <a:ext cx="4114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3749039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1817"/>
                </a:solidFill>
                <a:latin typeface="Montserrat"/>
              </a:defRPr>
            </a:pPr>
            <a:r>
              <a:t>STATE MANAGEMENT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46320" y="41148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95737"/>
                </a:solidFill>
                <a:latin typeface="Consolas"/>
              </a:defRPr>
            </a:pPr>
            <a:r>
              <a:t>SalesContext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411480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Filters, theme, view state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446227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95737"/>
                </a:solidFill>
                <a:latin typeface="Consolas"/>
              </a:defRPr>
            </a:pPr>
            <a:r>
              <a:t>CrossFilterContext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75120" y="446227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Chart cross-filtering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0" y="4809744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95737"/>
                </a:solidFill>
                <a:latin typeface="Consolas"/>
              </a:defRPr>
            </a:pPr>
            <a:r>
              <a:t>useSalesData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480974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API data fetching hooks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0" y="5157216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95737"/>
                </a:solidFill>
                <a:latin typeface="Consolas"/>
              </a:defRPr>
            </a:pPr>
            <a:r>
              <a:t>useOneLakeInventory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515721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Legacy analytics hooks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Data Flow: Request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463040" cy="1371600"/>
          </a:xfrm>
          <a:prstGeom prst="roundRect">
            <a:avLst/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1. USER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DFA"/>
                </a:solidFill>
                <a:latin typeface="Open Sans"/>
              </a:defRPr>
            </a:pPr>
            <a:r>
              <a:t>User applies filter or</a:t>
            </a:r>
            <a:br/>
            <a:r>
              <a:t>loads dashboard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83080" y="1920240"/>
            <a:ext cx="274320" cy="18288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371600"/>
            <a:ext cx="1463040" cy="137160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2. REACT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DFA"/>
                </a:solidFill>
                <a:latin typeface="Open Sans"/>
              </a:defRPr>
            </a:pPr>
            <a:r>
              <a:t>useSalesData builds</a:t>
            </a:r>
            <a:br/>
            <a:r>
              <a:t>query params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7560" y="1920240"/>
            <a:ext cx="274320" cy="18288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371600"/>
            <a:ext cx="1463040" cy="137160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3. API 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DFA"/>
                </a:solidFill>
                <a:latin typeface="Open Sans"/>
              </a:defRPr>
            </a:pPr>
            <a:r>
              <a:t>GET /inventory/aggregated</a:t>
            </a:r>
            <a:br/>
            <a:r>
              <a:t>with filter params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92040" y="1920240"/>
            <a:ext cx="274320" cy="18288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1371600"/>
            <a:ext cx="1463040" cy="137160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4. CACHE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DFA"/>
                </a:solidFill>
                <a:latin typeface="Open Sans"/>
              </a:defRPr>
            </a:pPr>
            <a:r>
              <a:t>Check if pre-computed</a:t>
            </a:r>
            <a:br/>
            <a:r>
              <a:t>result exists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446520" y="1920240"/>
            <a:ext cx="274320" cy="182880"/>
          </a:xfrm>
          <a:prstGeom prst="rightArrow">
            <a:avLst/>
          </a:prstGeom>
          <a:solidFill>
            <a:srgbClr val="8C8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1371600"/>
            <a:ext cx="1463040" cy="137160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5.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82880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DFA"/>
                </a:solidFill>
                <a:latin typeface="Open Sans"/>
              </a:defRPr>
            </a:pPr>
            <a:r>
              <a:t>JSON with KPIs,</a:t>
            </a:r>
            <a:br/>
            <a:r>
              <a:t>breakdowns, charts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85953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C8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1817"/>
                </a:solidFill>
                <a:latin typeface="Montserrat"/>
              </a:defRPr>
            </a:pPr>
            <a:r>
              <a:t>AGGREGATION RESPONSE 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KPIs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total_units: 187,600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total_value: $8.2B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avg_price: $43,521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62856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avg_days_to_sell: 78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2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by_rv_type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TRAVEL TRAILER: 121K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FIFTH WHEEL: 36K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CLASS C: 14K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20" y="4562856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CLASS A: 7K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4612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by_condition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NEW: 108K units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USED: 79K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Avg prices per condition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6344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by_state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TEXAS: 23K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0916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FLORIDA: 18K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CALIFORNIA: 12K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4562856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+ 57 more states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076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by_dealer_group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CAMPING WORLD: 53K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CAMPERS INN: 8K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+ 657 more groups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498080" y="3429000"/>
            <a:ext cx="1325880" cy="2103120"/>
          </a:xfrm>
          <a:prstGeom prst="round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347472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95737"/>
                </a:solidFill>
                <a:latin typeface="Consolas"/>
              </a:defRPr>
            </a:pPr>
            <a:r>
              <a:t>by_manufacturer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794760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KEYSTONE: 24K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43800" y="4050792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FOREST RIVER: 22K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43800" y="4306824"/>
            <a:ext cx="1234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95755"/>
                </a:solidFill>
                <a:latin typeface="Open Sans"/>
              </a:defRPr>
            </a:pPr>
            <a:r>
              <a:t>+ 279 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5661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DFA"/>
                </a:solidFill>
                <a:latin typeface="Open Sans"/>
              </a:defRPr>
            </a:pPr>
            <a:r>
              <a:t>Future Development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9144000" cy="45720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Next Steps &amp; Recommendations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71600"/>
            <a:ext cx="2743200" cy="411480"/>
          </a:xfrm>
          <a:prstGeom prst="round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IMMEDIATE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92024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9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95737"/>
                </a:solidFill>
                <a:latin typeface="Montserrat"/>
              </a:defRPr>
            </a:pPr>
            <a:r>
              <a:t>Real-time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Implement Change Data Capture for live inventory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01752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9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95737"/>
                </a:solidFill>
                <a:latin typeface="Montserrat"/>
              </a:defRPr>
            </a:pPr>
            <a:r>
              <a:t>Materialized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83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Pre-compute aggregations in Fabric for sub-100ms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411480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9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206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95737"/>
                </a:solidFill>
                <a:latin typeface="Montserrat"/>
              </a:defRPr>
            </a:pPr>
            <a:r>
              <a:t>Error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480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Add retry logic and graceful degradation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1371600"/>
            <a:ext cx="2743200" cy="411480"/>
          </a:xfrm>
          <a:prstGeom prst="roundRect">
            <a:avLst/>
          </a:prstGeom>
          <a:solidFill>
            <a:srgbClr val="577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SHORT-TERM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192024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7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GraphQL Federation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Expose Fabric data via GraphQL gateway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01752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7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Caching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383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Add Redis for distributed caching across instances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11480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7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206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77D91"/>
                </a:solidFill>
                <a:latin typeface="Montserrat"/>
              </a:defRPr>
            </a:pPr>
            <a:r>
              <a:t>API Versioning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80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Implement v2 API with breaking changes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371600"/>
            <a:ext cx="2743200" cy="411480"/>
          </a:xfrm>
          <a:prstGeom prst="roundRect">
            <a:avLst/>
          </a:prstGeom>
          <a:solidFill>
            <a:srgbClr val="A468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14173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LONG-TERM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92024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468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0116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46807"/>
                </a:solidFill>
                <a:latin typeface="Montserrat"/>
              </a:defRPr>
            </a:pPr>
            <a:r>
              <a:t>Streaming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2860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Real-time dashboards with Fabric Eventstream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01752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468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31089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46807"/>
                </a:solidFill>
                <a:latin typeface="Montserrat"/>
              </a:defRPr>
            </a:pPr>
            <a:r>
              <a:t>ML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383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Price prediction and demand forecasting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114800"/>
            <a:ext cx="2743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468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206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46807"/>
                </a:solidFill>
                <a:latin typeface="Montserrat"/>
              </a:defRPr>
            </a:pPr>
            <a:r>
              <a:t>Mobile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480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595755"/>
                </a:solidFill>
                <a:latin typeface="Open Sans"/>
              </a:defRPr>
            </a:pPr>
            <a:r>
              <a:t>Native iOS/Android for field sales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0040" y="5212080"/>
            <a:ext cx="8503920" cy="548640"/>
          </a:xfrm>
          <a:prstGeom prst="round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3035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Open Sans"/>
              </a:defRPr>
            </a:pPr>
            <a:r>
              <a:t>KEY CONSIDERATION: Current architecture prioritizes startup speed and query flexibility. For production scale, consider Fabric Materialized Views to eliminate compute-on-read overhead.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49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DFA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C8A7E"/>
                </a:solidFill>
                <a:latin typeface="Open San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6807"/>
                </a:solidFill>
                <a:latin typeface="Open Sans"/>
              </a:defRPr>
            </a:pPr>
            <a:r>
              <a:t>Repository: /market_intel_dashboard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6807"/>
                </a:solidFill>
                <a:latin typeface="Open Sans"/>
              </a:defRPr>
            </a:pPr>
            <a:r>
              <a:t>API Docs: http://localhost:8000/docs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46807"/>
                </a:solidFill>
                <a:latin typeface="Open Sans"/>
              </a:defRPr>
            </a:pPr>
            <a:r>
              <a:t>Frontend: http://localhost:5175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